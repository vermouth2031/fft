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fdb874e284771" /><Relationship Type="http://schemas.openxmlformats.org/officeDocument/2006/relationships/extended-properties" Target="/docProps/app.xml" Id="R13781a5017b54039" /><Relationship Type="http://schemas.openxmlformats.org/officeDocument/2006/relationships/officeDocument" Target="/ppt/presentation.xml" Id="R5576da9e2bd0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15746d19c44b9"/>
  </p:sldMasterIdLst>
  <p:notesMasterIdLst>
    <p:notesMasterId xmlns:r="http://schemas.openxmlformats.org/officeDocument/2006/relationships" r:id="R538c5398c9dd40e7"/>
  </p:notesMasterIdLst>
  <p:sldIdLst>
    <p:sldId xmlns:r="http://schemas.openxmlformats.org/officeDocument/2006/relationships" id="256" r:id="R16eb0f310ca7489a"/>
    <p:sldId xmlns:r="http://schemas.openxmlformats.org/officeDocument/2006/relationships" id="257" r:id="R35b5b18dca6b4af2"/>
    <p:sldId xmlns:r="http://schemas.openxmlformats.org/officeDocument/2006/relationships" id="258" r:id="R92dab2bf17864efc"/>
    <p:sldId xmlns:r="http://schemas.openxmlformats.org/officeDocument/2006/relationships" id="259" r:id="R7c907fcce1a14b09"/>
    <p:sldId xmlns:r="http://schemas.openxmlformats.org/officeDocument/2006/relationships" id="260" r:id="R8cbf7fd35cda47fa"/>
    <p:sldId xmlns:r="http://schemas.openxmlformats.org/officeDocument/2006/relationships" id="261" r:id="Rf6d302105e4c457f"/>
    <p:sldId xmlns:r="http://schemas.openxmlformats.org/officeDocument/2006/relationships" id="262" r:id="Rb805fecbd2474fd4"/>
    <p:sldId xmlns:r="http://schemas.openxmlformats.org/officeDocument/2006/relationships" id="263" r:id="Ra49412028c9542ff"/>
    <p:sldId xmlns:r="http://schemas.openxmlformats.org/officeDocument/2006/relationships" id="264" r:id="Ree517c34046240a9"/>
    <p:sldId xmlns:r="http://schemas.openxmlformats.org/officeDocument/2006/relationships" id="265" r:id="R4a09639ecdb94947"/>
    <p:sldId xmlns:r="http://schemas.openxmlformats.org/officeDocument/2006/relationships" id="266" r:id="Re1ce273b6f874fd1"/>
    <p:sldId xmlns:r="http://schemas.openxmlformats.org/officeDocument/2006/relationships" id="267" r:id="R15c089e48a8d45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b010caec64997" /><Relationship Type="http://schemas.openxmlformats.org/officeDocument/2006/relationships/slideMaster" Target="/ppt/slideMasters/slideMaster1.xml" Id="R19c15746d19c44b9" /><Relationship Type="http://schemas.openxmlformats.org/officeDocument/2006/relationships/notesMaster" Target="/ppt/notesMasters/notesMaster1.xml" Id="R538c5398c9dd40e7" /><Relationship Type="http://schemas.openxmlformats.org/officeDocument/2006/relationships/presProps" Target="/ppt/presProps.xml" Id="R90ef0d7565e1400e" /><Relationship Type="http://schemas.openxmlformats.org/officeDocument/2006/relationships/tableStyles" Target="/ppt/tableStyles.xml" Id="R721e612d58e84187" /><Relationship Type="http://schemas.openxmlformats.org/officeDocument/2006/relationships/slide" Target="/ppt/slides/slide1.xml" Id="R16eb0f310ca7489a" /><Relationship Type="http://schemas.openxmlformats.org/officeDocument/2006/relationships/slide" Target="/ppt/slides/slide2.xml" Id="R35b5b18dca6b4af2" /><Relationship Type="http://schemas.openxmlformats.org/officeDocument/2006/relationships/slide" Target="/ppt/slides/slide3.xml" Id="R92dab2bf17864efc" /><Relationship Type="http://schemas.openxmlformats.org/officeDocument/2006/relationships/slide" Target="/ppt/slides/slide4.xml" Id="R7c907fcce1a14b09" /><Relationship Type="http://schemas.openxmlformats.org/officeDocument/2006/relationships/slide" Target="/ppt/slides/slide5.xml" Id="R8cbf7fd35cda47fa" /><Relationship Type="http://schemas.openxmlformats.org/officeDocument/2006/relationships/slide" Target="/ppt/slides/slide6.xml" Id="Rf6d302105e4c457f" /><Relationship Type="http://schemas.openxmlformats.org/officeDocument/2006/relationships/slide" Target="/ppt/slides/slide7.xml" Id="Rb805fecbd2474fd4" /><Relationship Type="http://schemas.openxmlformats.org/officeDocument/2006/relationships/slide" Target="/ppt/slides/slide8.xml" Id="Ra49412028c9542ff" /><Relationship Type="http://schemas.openxmlformats.org/officeDocument/2006/relationships/slide" Target="/ppt/slides/slide9.xml" Id="Ree517c34046240a9" /><Relationship Type="http://schemas.openxmlformats.org/officeDocument/2006/relationships/slide" Target="/ppt/slides/slide10.xml" Id="R4a09639ecdb94947" /><Relationship Type="http://schemas.openxmlformats.org/officeDocument/2006/relationships/slide" Target="/ppt/slides/slide11.xml" Id="Re1ce273b6f874fd1" /><Relationship Type="http://schemas.openxmlformats.org/officeDocument/2006/relationships/slide" Target="/ppt/slides/slide12.xml" Id="R15c089e48a8d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fe75d87343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ab38495734d5b" /><Relationship Type="http://schemas.openxmlformats.org/officeDocument/2006/relationships/notesMaster" Target="/ppt/notesMasters/notesMaster1.xml" Id="Rcb12991a95344b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eaac55b434926" /><Relationship Type="http://schemas.openxmlformats.org/officeDocument/2006/relationships/notesMaster" Target="/ppt/notesMasters/notesMaster1.xml" Id="R275577cfad64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030b44dfe4041" /><Relationship Type="http://schemas.openxmlformats.org/officeDocument/2006/relationships/notesMaster" Target="/ppt/notesMasters/notesMaster1.xml" Id="Rb4c41862a5a7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7f4d3e2704ad3" /><Relationship Type="http://schemas.openxmlformats.org/officeDocument/2006/relationships/notesMaster" Target="/ppt/notesMasters/notesMaster1.xml" Id="R0a0d0afe0bdc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4dc49560541f1" /><Relationship Type="http://schemas.openxmlformats.org/officeDocument/2006/relationships/notesMaster" Target="/ppt/notesMasters/notesMaster1.xml" Id="Ra36454efe51b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a1ee284f464724" /><Relationship Type="http://schemas.openxmlformats.org/officeDocument/2006/relationships/notesMaster" Target="/ppt/notesMasters/notesMaster1.xml" Id="R2209879164d84f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c16b1aeaa34fdb" /><Relationship Type="http://schemas.openxmlformats.org/officeDocument/2006/relationships/notesMaster" Target="/ppt/notesMasters/notesMaster1.xml" Id="R17b88e2a486d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3ad57b0f304441" /><Relationship Type="http://schemas.openxmlformats.org/officeDocument/2006/relationships/notesMaster" Target="/ppt/notesMasters/notesMaster1.xml" Id="R3a42694a8c99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677c7cd6cd451b" /><Relationship Type="http://schemas.openxmlformats.org/officeDocument/2006/relationships/notesMaster" Target="/ppt/notesMasters/notesMaster1.xml" Id="Rf3acff40355241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30d2338d3140c5" /><Relationship Type="http://schemas.openxmlformats.org/officeDocument/2006/relationships/notesMaster" Target="/ppt/notesMasters/notesMaster1.xml" Id="R1423163e6bab42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4fe9012530455d" /><Relationship Type="http://schemas.openxmlformats.org/officeDocument/2006/relationships/notesMaster" Target="/ppt/notesMasters/notesMaster1.xml" Id="R83d4e61b260e48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e3dffaad724a4e" /><Relationship Type="http://schemas.openxmlformats.org/officeDocument/2006/relationships/notesMaster" Target="/ppt/notesMasters/notesMaster1.xml" Id="R9dc4d0cba1bd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讲稿：介绍 Zybo Z7-20 上的数字电路项目。输入是预装载后 PL 连续回放，I/Q 各 16bit。厂商 FFT 与自有测量控制 RTL 分工明确。</a:t>
            </a:r>
          </a:p>
          <a:p xmlns:a="http://schemas.openxmlformats.org/drawingml/2006/main">
            <a:r>
              <a:t>来源：reports/phase4_final_measurements.json；reports/phase4_requirements.json。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讲稿：四项数值要求在当前声明口径下达到。输入速率不代表 USB/以太网实时上传速率，位宽不代表模拟 ADC ENOB。带宽没有公布的数值最低门槛。</a:t>
            </a:r>
          </a:p>
          <a:p xmlns:a="http://schemas.openxmlformats.org/drawingml/2006/main">
            <a:r>
              <a:t>来源：docs/赛题要求.md；reports/phase4_requirements.json；reports/phase4_final_measurements.json。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讲稿：PS 负责文件装载、控制和结果传输。PL 以源时钟采样，时域与频域并行。异步 FIFO 连接 100 MHz 与 125 MHz 时钟域，结果重新回到源域。FFT 采用 AMD IP，自有 RTL 完成窗函数、测量、结果封装和接口。</a:t>
            </a:r>
          </a:p>
          <a:p xmlns:a="http://schemas.openxmlformats.org/drawingml/2006/main">
            <a:r>
              <a:t>来源：rtl/iq_peripheral.sv；rtl/analyzer_core.sv；rtl/window_fft.sv。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讲稿：幅度由原始 I/Q 计算，结果 Q16.16，以数字码值表达。threshold 模式观察 16 点滑动能量，digital-zero 用于数字零背景。robust 档要求真实存在已声明的前导静默，不能自动识别安静背景。</a:t>
            </a:r>
          </a:p>
          <a:p xmlns:a="http://schemas.openxmlformats.org/drawingml/2006/main">
            <a:r>
              <a:t>来源：rtl/time_measure.sv；rtl/digital_burst_measure.sv；host/threshold_config.py。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讲稿：先按频率升序累计完整 8192 点功率。两端各去除 0.5% 能量，得到带宽边界。谱峰是最大功率 bin。调制载频与谱峰不同，不能统一改名。离线频点研究显示带噪场景的 CDF 中心也可能失真。</a:t>
            </a:r>
          </a:p>
          <a:p xmlns:a="http://schemas.openxmlformats.org/drawingml/2006/main">
            <a:r>
              <a:t>来源：rtl/spectrum_measure.sv；rtl/result_builder.sv；build/phase4_frequency_20260922_v2/study.json。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讲稿：设计跨度与实际 99% 占用带宽分别报告。初始三档及次级最宽档均采用 QPSK/16QAM、矩形/Hann，各有20个冻结验收seed。次级使用与初始不同的训练和验收seed，最终组合版本复测这些输入。图中取Hann内部窗最小99%带宽，单位MHz；边沿窗单列。</a:t>
            </a:r>
          </a:p>
          <a:p xmlns:a="http://schemas.openxmlformats.org/drawingml/2006/main">
            <a:r>
              <a:t>来源：reports/phase4_final_measurements.json；captures/phase4_final_20260922/ofdm_finite/measurement_validation.json；captures/phase4_final_20260922/widest_finite/measurement_validation.json。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讲稿：最坏分析 175.23 微秒，发布到板内结果缓冲 175.57 微秒。两者均不是电脑上传到 GUI 绘图的端到端耗时。一个窗口 81.92 微秒只代表采样时长。性能声明采用同一组合版本。</a:t>
            </a:r>
          </a:p>
          <a:p xmlns:a="http://schemas.openxmlformats.org/drawingml/2006/main">
            <a:r>
              <a:t>来源：reports/phase4_final_measurements.json；reports/phase4_complete_validation.json；reports/phase2_latency_validation.json。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讲稿：AMD 位精确模型验证全部 FFT 点，并逐条比对测量字段。原1653组和新增367组在同一组合版本复测。持续循环验证传输和计算稳定性，不增加独立随机样本。</a:t>
            </a:r>
          </a:p>
          <a:p xmlns:a="http://schemas.openxmlformats.org/drawingml/2006/main">
            <a:r>
              <a:t>来源：reports/core_validation.json；reports/phase4_final_measurements.json。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5dB的冻结独立seed组正常496/500，组合版本复测相同输入。噪声研究采用3153个唯一块，分别对三个幅度层统计。零事件不代表真实虚警率为零，且每块复位。没有宣称通用0dB高精度测长、DC补偿或协议帧解析。</a:t>
            </a:r>
          </a:p>
          <a:p xmlns:a="http://schemas.openxmlformats.org/drawingml/2006/main">
            <a:r>
              <a:t>来源：reports/phase4_final_measurements.json；build/phase4_noise_20260922/study.json；build/phase4_frequency_20260922_v2/study.json。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讲稿：这是实际Tk GUI与组合版本真板采集截图。最后一条记录可能为边沿窗，其值不能代替内部窗最小带宽统计。采集完整性与数值参考核验是不同检查，外部位精确核验保存在GUI验收报告中。</a:t>
            </a:r>
          </a:p>
          <a:p xmlns:a="http://schemas.openxmlformats.org/drawingml/2006/main">
            <a:r>
              <a:t>来源：captures/phase4_final_20260922/demo/ofdm.png；captures/phase4_final_20260922/demo/gui_validation.json。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讲稿：八路扫描缩短谱后处理，保留全部 bin。去掉由有效标志保护的数据流水寄存器复位，以缓解实测复位扇出路径，并补充扫描中复位测试。构建 ID 与计数绑定实际版本。125 MHz 输入实验仅有 0.029 ns 裕量，本轮未晋升。</a:t>
            </a:r>
          </a:p>
          <a:p xmlns:a="http://schemas.openxmlformats.org/drawingml/2006/main">
            <a:r>
              <a:t>来源：reports/第四阶段完整验收报告.md；reports/第四阶段时钟可行性结论.md。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讲稿：运行 python scripts/phase4_demo.py 选择预设。打开对应原始采集目录，查看 capture.json、frequency.bin 和参考验收报告。交付包的 manifest 与 ZIP SHA-256 用于核查。预计提问：为何用 AMD FFT？明确自有测量/接口 RTL 的职责；是否外部实时？当前为板内回放；为何不直接称载频？谱峰和载频物理定义不同；循环 300 秒是否独立样本？不是，另有唯一数据研究。</a:t>
            </a:r>
          </a:p>
          <a:p xmlns:a="http://schemas.openxmlformats.org/drawingml/2006/main">
            <a:r>
              <a:t>来源：scripts/phase4_demo.py；reports/第四阶段完整验收报告.md；reports/phase4_complete_validation.json。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7d1f4da264c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591bcc7ce4478c" /><Relationship Type="http://schemas.openxmlformats.org/officeDocument/2006/relationships/slideLayout" Target="/ppt/slideLayouts/slideLayout1.xml" Id="R6ff3ea2830b6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f3ea2830b6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9a55c199423e" /><Relationship Type="http://schemas.openxmlformats.org/officeDocument/2006/relationships/notesSlide" Target="/ppt/notesSlides/notesSlide1.xml" Id="R8bb658696e91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d0e5b38164b74" /><Relationship Type="http://schemas.openxmlformats.org/officeDocument/2006/relationships/notesSlide" Target="/ppt/notesSlides/notesSlide2.xml" Id="R1d0aa86e21144a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be9fd26c4490b" /><Relationship Type="http://schemas.openxmlformats.org/officeDocument/2006/relationships/notesSlide" Target="/ppt/notesSlides/notesSlide3.xml" Id="Rd5456e72969d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ae897eba34fbc" /><Relationship Type="http://schemas.openxmlformats.org/officeDocument/2006/relationships/notesSlide" Target="/ppt/notesSlides/notesSlide4.xml" Id="R9e4e3c566613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c3a12238c4f1e" /><Relationship Type="http://schemas.openxmlformats.org/officeDocument/2006/relationships/notesSlide" Target="/ppt/notesSlides/notesSlide5.xml" Id="R913db653f8e3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08b7bbf634924" /><Relationship Type="http://schemas.openxmlformats.org/officeDocument/2006/relationships/chart" Target="/ppt/slides/charts/chart1.xml" Id="R69bab28502bc427e" /><Relationship Type="http://schemas.openxmlformats.org/officeDocument/2006/relationships/notesSlide" Target="/ppt/notesSlides/notesSlide6.xml" Id="Rb4a8f75d32714d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c684ba0fc4edc" /><Relationship Type="http://schemas.openxmlformats.org/officeDocument/2006/relationships/notesSlide" Target="/ppt/notesSlides/notesSlide7.xml" Id="Rd8b925cff9ac45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e8fa485d4b48" /><Relationship Type="http://schemas.openxmlformats.org/officeDocument/2006/relationships/notesSlide" Target="/ppt/notesSlides/notesSlide8.xml" Id="R201302bc155c4b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60030fde4440" /><Relationship Type="http://schemas.openxmlformats.org/officeDocument/2006/relationships/notesSlide" Target="/ppt/notesSlides/notesSlide9.xml" Id="R54d1c06c5b2548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bff9f0d904b6f" /><Relationship Type="http://schemas.openxmlformats.org/officeDocument/2006/relationships/image" Target="/ppt/media/image.png" Id="R87b9ba9b5f9b4f8d" /><Relationship Type="http://schemas.openxmlformats.org/officeDocument/2006/relationships/notesSlide" Target="/ppt/notesSlides/notesSlide10.xml" Id="R6f5504c5789f40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129e0d98a431b" /><Relationship Type="http://schemas.openxmlformats.org/officeDocument/2006/relationships/notesSlide" Target="/ppt/notesSlides/notesSlide11.xml" Id="R54bd97b4a67449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3d3268ae4405" /><Relationship Type="http://schemas.openxmlformats.org/officeDocument/2006/relationships/notesSlide" Target="/ppt/notesSlides/notesSlide12.xml" Id="R55d1bfc4ec324a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QPSK</c:v>
          </c:tx>
          <c:spPr>
            <a:solidFill xmlns:a="http://schemas.openxmlformats.org/drawingml/2006/main">
              <a:srgbClr val="137C89"/>
            </a:solidFill>
          </c:spPr>
          <c:cat>
            <c:strRef>
              <c:f>'Chart Data'!$A$2:$A$5</c:f>
              <c:strCache>
                <c:ptCount val="4"/>
                <c:pt idx="0">
                  <c:v>85 MHz 档</c:v>
                </c:pt>
                <c:pt idx="1">
                  <c:v>90 MHz 档</c:v>
                </c:pt>
                <c:pt idx="2">
                  <c:v>95 MHz 档</c:v>
                </c:pt>
                <c:pt idx="3">
                  <c:v>98.14 MHz 档</c:v>
                </c:pt>
              </c:strCache>
            </c:strRef>
          </c:cat>
          <c:val>
            <c:numRef>
              <c:f>'Chart Data'!$B$2:$B$5</c:f>
              <c:numCache>
                <c:formatCode>0" MHz"</c:formatCode>
                <c:ptCount val="4"/>
                <c:pt idx="0">
                  <c:v>84.02</c:v>
                </c:pt>
                <c:pt idx="1">
                  <c:v>88.96</c:v>
                </c:pt>
                <c:pt idx="2">
                  <c:v>93.91</c:v>
                </c:pt>
                <c:pt idx="3">
                  <c:v>97.09</c:v>
                </c:pt>
              </c:numCache>
            </c:numRef>
          </c:val>
        </c:ser>
        <c:ser>
          <c:idx val="1"/>
          <c:order val="1"/>
          <c:tx>
            <c:v>16QAM</c:v>
          </c:tx>
          <c:spPr>
            <a:solidFill xmlns:a="http://schemas.openxmlformats.org/drawingml/2006/main">
              <a:srgbClr val="89AFB7"/>
            </a:solidFill>
          </c:spPr>
          <c:cat>
            <c:strRef>
              <c:f>'Chart Data'!$C$2:$C$5</c:f>
              <c:strCache>
                <c:ptCount val="4"/>
                <c:pt idx="0">
                  <c:v>85 MHz 档</c:v>
                </c:pt>
                <c:pt idx="1">
                  <c:v>90 MHz 档</c:v>
                </c:pt>
                <c:pt idx="2">
                  <c:v>95 MHz 档</c:v>
                </c:pt>
                <c:pt idx="3">
                  <c:v>98.14 MHz 档</c:v>
                </c:pt>
              </c:strCache>
            </c:strRef>
          </c:cat>
          <c:val>
            <c:numRef>
              <c:f>'Chart Data'!$D$2:$D$5</c:f>
              <c:numCache>
                <c:formatCode>0" MHz"</c:formatCode>
                <c:ptCount val="4"/>
                <c:pt idx="0">
                  <c:v>83.96</c:v>
                </c:pt>
                <c:pt idx="1">
                  <c:v>88.83</c:v>
                </c:pt>
                <c:pt idx="2">
                  <c:v>93.79</c:v>
                </c:pt>
                <c:pt idx="3">
                  <c:v>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 MHz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4E305-1A8B-4923-AA2B-9C4C1E6B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100 MSPS 数字 IQ 分析器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6A741-E752-45D5-A50E-E572C286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7C89"/>
                </a:solidFill>
                <a:latin typeface="Microsoft YaHei"/>
                <a:ea typeface="Microsoft YaHei"/>
                <a:cs typeface="Microsoft YaHei"/>
              </a:rPr>
              <a:t>8192 点 FFT 与完整功率谱测量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2FAC6-0B64-4191-AF32-DF30A2A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幅度、突发包络长度、谱峰与 99% 占用带宽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C8FB7-8A22-472A-9E9D-9A15623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八路谱扫描、构建身份与真板完整验证</a:t>
            </a:r>
          </a:p>
          <a:p xmlns:a="http://schemas.openxmlformats.org/drawingml/2006/main">
            <a:pPr>
              <a:def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2026 年 9 月 22 日</a:t>
            </a:r>
          </a:p>
        </p:txBody>
      </p:sp>
    </p:spTree>
    <p:extLst>
      <p:ext uri="{BB962C8B-B14F-4D97-AF65-F5344CB8AC3E}">
        <p14:creationId xmlns:p14="http://schemas.microsoft.com/office/powerpoint/2010/main" val="1220124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C1036-C88B-4985-8391-C2E9DDC2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赛事数值要求与当前证据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00250"/>
                <a:gridCol w="2381250"/>
                <a:gridCol w="4448175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计量口径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/ Q 位宽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≥12 bit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16 bit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数字输入格式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≥100 MSPS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MSPS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每拍一对 IQ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点数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≥8192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8192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FFT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175.23 µs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 首 IQ 至分析结果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MHz，越大越好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97.00 MHz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 OFDM 内部窗最小值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95A42-C443-4103-A720-E3324ED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赛方补充定义尚未确认，按现有题面说明输入、频点和帧长语义</a:t>
            </a:r>
          </a:p>
        </p:txBody>
      </p:sp>
    </p:spTree>
    <p:extLst>
      <p:ext uri="{BB962C8B-B14F-4D97-AF65-F5344CB8AC3E}">
        <p14:creationId xmlns:p14="http://schemas.microsoft.com/office/powerpoint/2010/main" val="1185990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DE09A-FA13-4F57-B050-40B4FE56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处理架构与职责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905500"/>
                <a:gridCol w="259080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处理内容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时钟或接口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 与电脑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装载向量，配置，读回和展示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UDP / AXI4-Lite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 源域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回放、能量、幅度、包络测长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 FFT 域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加窗、AMD FFT、全谱功率和 CDF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 MHz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 结果域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对齐窗口、定点换算、结果缓冲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8EB64-A25A-4954-8231-7C9A259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输入 FIFO 与结果 FIFO 跨域，窗口编号、样本位置和时间戳共同检查完整性</a:t>
            </a:r>
          </a:p>
        </p:txBody>
      </p:sp>
    </p:spTree>
    <p:extLst>
      <p:ext uri="{BB962C8B-B14F-4D97-AF65-F5344CB8AC3E}">
        <p14:creationId xmlns:p14="http://schemas.microsoft.com/office/powerpoint/2010/main" val="1203610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EF74-E47C-4EAC-B8BD-18C612E5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幅度与包络长度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D0A5B-4C1B-41D3-9B47-B6D8A239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幅度：每个 IQ 对的功率为 I² + Q²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窗口峰值和 RMS 以 Q16.16 码值输出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78F2B-80F4-4B9D-9166-B5701C7A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threshold：16 点滑动能量与迟滞门限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robust 档由已知静默前缀估计背景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209D7-3490-4DEF-BCF3-AB2A9F0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digital-zero：确认零间隔后的非零样本区间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包络长度不包含通信协议解析</a:t>
            </a:r>
          </a:p>
        </p:txBody>
      </p:sp>
    </p:spTree>
    <p:extLst>
      <p:ext uri="{BB962C8B-B14F-4D97-AF65-F5344CB8AC3E}">
        <p14:creationId xmlns:p14="http://schemas.microsoft.com/office/powerpoint/2010/main" val="1209086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8F76-D2B1-44F9-8475-234F0FF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谱峰、带宽中心与 99% 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22853-762E-4A4B-B86F-716EE19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谱峰：完整频谱中功率最大的 bin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等峰取频率较低的 bin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8E25B-86F1-4A64-B8CF-DDAB0DA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99% 带宽：0.5% 与 99.5% 累积功率边界之差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带宽中心：这两个边界的中点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9E573-5277-41D5-A9F8-1A392AF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频率分辨率为 100 MHz / 8192 ≈ 12.207 kHz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1024 点显示快照仅用于绘图，不参与带宽计算</a:t>
            </a:r>
          </a:p>
        </p:txBody>
      </p:sp>
    </p:spTree>
    <p:extLst>
      <p:ext uri="{BB962C8B-B14F-4D97-AF65-F5344CB8AC3E}">
        <p14:creationId xmlns:p14="http://schemas.microsoft.com/office/powerpoint/2010/main" val="1457280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3C2B-3D9B-4DAE-9ACB-283FAFC3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OFDM 扩展带宽验证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02E5A-DD9B-490B-B369-B6AF752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Hann 窗：内部窗最小 99% 占用带宽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14375" y="1676400"/>
          <a:ext xmlns:a="http://schemas.openxmlformats.org/drawingml/2006/main" cx="10477500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bab28502bc427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CCDA6-0DB4-47DB-9362-4619850F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320 组有限输入，另有 24 组频移边界用例</a:t>
            </a:r>
          </a:p>
          <a:p xmlns:a="http://schemas.openxmlformats.org/drawingml/2006/main">
            <a:pPr>
              <a:defRPr sz="217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最宽设计档的内部窗最小实测占用带宽为 96.997070 MHz</a:t>
            </a:r>
          </a:p>
        </p:txBody>
      </p:sp>
    </p:spTree>
    <p:extLst>
      <p:ext uri="{BB962C8B-B14F-4D97-AF65-F5344CB8AC3E}">
        <p14:creationId xmlns:p14="http://schemas.microsoft.com/office/powerpoint/2010/main" val="897835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B1B45-7B62-47B9-8564-4B1ADA37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延迟与时钟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D2E21-D572-4384-9DCA-E5F81DE6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1047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37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37C89"/>
                </a:solidFill>
                <a:latin typeface="Microsoft YaHei"/>
                <a:ea typeface="Microsoft YaHei"/>
                <a:cs typeface="Microsoft YaHei"/>
              </a:rPr>
              <a:t>175.23 µs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A4EA3-10F2-4DA1-99CA-18C3221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正常最大 PL 分析延迟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00A2D-08C2-4553-85BA-9CD3E3E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047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最大发布延迟 175.57 µs</a:t>
            </a:r>
          </a:p>
          <a:p xmlns:a="http://schemas.openxmlformats.org/drawingml/2006/main">
            <a:pPr>
              <a:def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输入时钟 100 MHz，FFT 时钟 125 MHz</a:t>
            </a:r>
          </a:p>
          <a:p xmlns:a="http://schemas.openxmlformats.org/drawingml/2006/main">
            <a:pPr>
              <a:def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单个 8192 点窗口的采样时长 81.92 µs</a:t>
            </a:r>
          </a:p>
        </p:txBody>
      </p:sp>
    </p:spTree>
    <p:extLst>
      <p:ext uri="{BB962C8B-B14F-4D97-AF65-F5344CB8AC3E}">
        <p14:creationId xmlns:p14="http://schemas.microsoft.com/office/powerpoint/2010/main" val="402424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BA4F4-9821-457E-AD82-4C87636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仿真、真板与持续运行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952750"/>
                <a:gridCol w="5305425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证据内容</a:t>
                      </a:r>
                    </a:p>
                  </a:txBody>
                  <a:tcPr marL="91440" marR="91440" marT="45720" marB="45720">
                    <a:solidFill>
                      <a:srgbClr val="14344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完整核心仿真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524288 个 FFT 复数点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逐点位精确比较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原矩阵复测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1653 组矩阵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 seed 的完整回归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OFDM 有限输入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 + 24 组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内部与边沿窗全部核验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OFDM 持续回放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项 10/60/300 秒测试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新噪声抽样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组真板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预先固定 seed，数值一致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528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A9322-56BE-4806-A419-CB3F88D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稳健性与已知边界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4D074-E273-49C9-A1E3-CCD7A5C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30 / 20 / 10 dB：各 500 / 500 正常匹配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5 dB：496 / 500；0 dB：0 / 500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2B156-73AA-4B01-BEC6-CFB1BE34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不重复噪声总长 1.03317504 秒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三个幅度层各 1051 块，观察到 0 个虚警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C3E32-ED47-4004-8EFF-ADFBA2B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输入需满足声明的静默前缀与背景条件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宽带谱峰不能直接作为调制载频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E5F7D-B4E3-41A4-B9B6-106C221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5"/>
                </a:solidFill>
                <a:latin typeface="Microsoft YaHei"/>
                <a:ea typeface="Microsoft YaHei"/>
                <a:cs typeface="Microsoft YaHei"/>
              </a:rPr>
              <a:t>零事件不等于虚警率为零；各层条件性 Poisson 95% 上界约 8.98 次/秒</a:t>
            </a:r>
          </a:p>
        </p:txBody>
      </p:sp>
    </p:spTree>
    <p:extLst>
      <p:ext uri="{BB962C8B-B14F-4D97-AF65-F5344CB8AC3E}">
        <p14:creationId xmlns:p14="http://schemas.microsoft.com/office/powerpoint/2010/main" val="669386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46711-5E03-49D9-B77C-82BF956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真板演示界面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9ba9b5f9b4f8d"/>
          <a:stretch xmlns:a="http://schemas.openxmlformats.org/drawingml/2006/main"/>
        </p:blipFill>
        <p:spPr>
          <a:xfrm xmlns:a="http://schemas.openxmlformats.org/drawingml/2006/main">
            <a:off x="1327909" y="1304925"/>
            <a:ext cx="6621532" cy="5162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65E25-D767-4BAA-AA24-321E3A9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38300"/>
            <a:ext cx="271462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四个预设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零背景测长</a:t>
            </a:r>
          </a:p>
          <a:p xmlns:a="http://schemas.openxmlformats.org/drawingml/2006/main">
            <a:pPr>
              <a:def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5 dB robust</a:t>
            </a:r>
          </a:p>
          <a:p xmlns:a="http://schemas.openxmlformats.org/drawingml/2006/main">
            <a:pPr>
              <a:def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单音峰频</a:t>
            </a:r>
          </a:p>
          <a:p xmlns:a="http://schemas.openxmlformats.org/drawingml/2006/main">
            <a:pPr>
              <a:def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宽带 OFDM</a:t>
            </a:r>
          </a:p>
        </p:txBody>
      </p:sp>
    </p:spTree>
    <p:extLst>
      <p:ext uri="{BB962C8B-B14F-4D97-AF65-F5344CB8AC3E}">
        <p14:creationId xmlns:p14="http://schemas.microsoft.com/office/powerpoint/2010/main" val="2076141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14E8F-AA1D-4137-93FB-EBC527B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优化结果与取舍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463E-C146-450C-BE0A-BB035EC6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八路扫描：完整 8192 bin 与原测量定义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缩短扫描段，复位中断也不会发布旧结果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99B2-A44D-4D25-A2B5-EE7CB67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构建身份与吞吐：只读 ID 和安全跨域快照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停止排空后核对各域样本计数守恒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D8D2B-2D44-4558-897D-FB69E88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125 MHz 输入实验未晋升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时序裕量低于预定门槛，正式输入维持 100 MSPS</a:t>
            </a:r>
          </a:p>
        </p:txBody>
      </p:sp>
    </p:spTree>
    <p:extLst>
      <p:ext uri="{BB962C8B-B14F-4D97-AF65-F5344CB8AC3E}">
        <p14:creationId xmlns:p14="http://schemas.microsoft.com/office/powerpoint/2010/main" val="17780591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6DF46-8D19-4F53-9508-811E24DE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复现与答辩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D904B-BC2E-4996-B281-7B3204FA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演示入口：python scripts/phase4_demo.py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预设绑定 IQ 散列、窗口和检测配置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55D4E-E1A7-43A2-BAB7-FB84605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结果核查：原始记录、冻结参考与验收报告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构建、部署和启动证据保持对应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3B93D-6C36-45C5-8EA2-E651E731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答辩说明：数字回放输入、AMD FFT、自有测量 RTL</a:t>
            </a:r>
          </a:p>
          <a:p xmlns:a="http://schemas.openxmlformats.org/drawingml/2006/main">
            <a:pPr>
              <a:def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449"/>
                </a:solidFill>
                <a:latin typeface="Microsoft YaHei"/>
                <a:ea typeface="Microsoft YaHei"/>
                <a:cs typeface="Microsoft YaHei"/>
              </a:rPr>
              <a:t>适用范围和未通过条件与实测结果一起提交</a:t>
            </a:r>
          </a:p>
        </p:txBody>
      </p:sp>
    </p:spTree>
    <p:extLst>
      <p:ext uri="{BB962C8B-B14F-4D97-AF65-F5344CB8AC3E}">
        <p14:creationId xmlns:p14="http://schemas.microsoft.com/office/powerpoint/2010/main" val="366061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2026-09-22T10:31:58.2220000Z</dcterms:created>
  <dcterms:modified xsi:type="dcterms:W3CDTF">2026-09-22T10:31:58.2220000Z</dcterms:modified>
</coreProperties>
</file>